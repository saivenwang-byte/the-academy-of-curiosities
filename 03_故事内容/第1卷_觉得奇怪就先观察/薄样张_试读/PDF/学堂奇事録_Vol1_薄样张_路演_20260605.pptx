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0"/>
            <a:ext cx="134416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学堂奇事録</a:t>
            </a:r>
          </a:p>
          <a:p>
            <a:pPr algn="ctr">
              <a:defRPr sz="2200" i="1"/>
            </a:pPr>
            <a:r>
              <a:t>謎が、解ける日。</a:t>
            </a:r>
          </a:p>
          <a:p>
            <a:pPr algn="ctr">
              <a:defRPr sz="1800"/>
            </a:pPr>
            <a:r>
              <a:t>第1巻 · おかしいと思ったら、まず見てみる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635240"/>
            <a:ext cx="1344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薄样张路演 · 16:9 · 20260605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首市场 · 日本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対象：7–11歳（主 8–10）· 名古屋 · 校园軽推理成長 IP</a:t>
            </a:r>
          </a:p>
          <a:p>
            <a:pPr>
              <a:spcAft>
                <a:spcPts val="800"/>
              </a:spcAft>
              <a:defRPr sz="1700"/>
            </a:pPr>
            <a:r>
              <a:t>境界：硬科普/参考書/恐怖/大人捜査 ✗</a:t>
            </a:r>
          </a:p>
          <a:p>
            <a:pPr>
              <a:spcAft>
                <a:spcPts val="800"/>
              </a:spcAft>
              <a:defRPr sz="1700"/>
            </a:pPr>
            <a:r>
              <a:t>設計：かわいさで入る · 謎で留まる · 観察で続く</a:t>
            </a:r>
          </a:p>
          <a:p>
            <a:pPr>
              <a:spcAft>
                <a:spcPts val="800"/>
              </a:spcAft>
              <a:defRPr sz="1700"/>
            </a:pPr>
            <a:r>
              <a:t>Vol1 = Plan B · 5年跨班 観察クラブ · 5小事件合订</a:t>
            </a:r>
          </a:p>
          <a:p>
            <a:pPr>
              <a:spcAft>
                <a:spcPts val="800"/>
              </a:spcAft>
              <a:defRPr sz="1700"/>
            </a:pPr>
            <a:r>
              <a:t>本轮：案①薄样张试读 → 5–8組 E20 后再扩写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差別化 · 観察クラブ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学校おもしろ観察クラブ — 怪しいより「おかしい」</a:t>
            </a:r>
          </a:p>
          <a:p>
            <a:pPr>
              <a:spcAft>
                <a:spcPts val="800"/>
              </a:spcAft>
              <a:defRPr sz="1700"/>
            </a:pPr>
            <a:r>
              <a:t>陸珣（しゅん）視点 · 転校生 · 微观观察 · 非少年侦探团</a:t>
            </a:r>
          </a:p>
          <a:p>
            <a:pPr>
              <a:spcAft>
                <a:spcPts val="800"/>
              </a:spcAft>
              <a:defRPr sz="1700"/>
            </a:pPr>
            <a:r>
              <a:t>陸瑆（ひかる · 4年2組）笔记层 · 温柔一问收束</a:t>
            </a:r>
          </a:p>
          <a:p>
            <a:pPr>
              <a:spcAft>
                <a:spcPts val="800"/>
              </a:spcAft>
              <a:defRPr sz="1700"/>
            </a:pPr>
            <a:r>
              <a:t>公平线索 · 温柔真相 · 零恐怖 · 名古屋上履き</a:t>
            </a:r>
          </a:p>
          <a:p>
            <a:pPr>
              <a:spcAft>
                <a:spcPts val="800"/>
              </a:spcAft>
              <a:defRPr sz="1700"/>
            </a:pPr>
            <a:r>
              <a:t>机制谜底不可被人际替换（正典门禁）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案① · めくれたポスター（试读核心）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奇怪：壁报海报的边，每天翘在不同侧</a:t>
            </a:r>
          </a:p>
          <a:p>
            <a:pPr>
              <a:spcAft>
                <a:spcPts val="800"/>
              </a:spcAft>
              <a:defRPr sz="1700"/>
            </a:pPr>
            <a:r>
              <a:t>线索：风侧 · 湿度 · 贴法方向 — 读者可猜</a:t>
            </a:r>
          </a:p>
          <a:p>
            <a:pPr>
              <a:spcAft>
                <a:spcPts val="800"/>
              </a:spcAft>
              <a:defRPr sz="1700"/>
            </a:pPr>
            <a:r>
              <a:t>功能：入社前「先观察」· 侧廊日常 · 插图可读</a:t>
            </a:r>
          </a:p>
          <a:p>
            <a:pPr>
              <a:spcAft>
                <a:spcPts val="800"/>
              </a:spcAft>
              <a:defRPr sz="1700"/>
            </a:pPr>
            <a:r>
              <a:t>尾钩：壁报留空一栏 → 串联 Vol1 五案</a:t>
            </a:r>
          </a:p>
          <a:p>
            <a:pPr>
              <a:spcAft>
                <a:spcPts val="800"/>
              </a:spcAft>
              <a:defRPr sz="1700"/>
            </a:pPr>
            <a:r>
              <a:t>试读 PDF：序+案①+瑆页+实验+问卷（~20–30p）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试读计划 · E20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对象：5–8 组 · 8–10 岁 + 家长</a:t>
            </a:r>
          </a:p>
          <a:p>
            <a:pPr>
              <a:spcAft>
                <a:spcPts val="800"/>
              </a:spcAft>
              <a:defRPr sz="1700"/>
            </a:pPr>
            <a:r>
              <a:t>交付：日本語薄样张 PDF + 主持人脚本 + 问卷</a:t>
            </a:r>
          </a:p>
          <a:p>
            <a:pPr>
              <a:spcAft>
                <a:spcPts val="800"/>
              </a:spcAft>
              <a:defRPr sz="1700"/>
            </a:pPr>
            <a:r>
              <a:t>阈值：「続きが読みたい」≥60% · scary 0% · 安全 100%</a:t>
            </a:r>
          </a:p>
          <a:p>
            <a:pPr>
              <a:spcAft>
                <a:spcPts val="800"/>
              </a:spcAft>
              <a:defRPr sz="1700"/>
            </a:pPr>
            <a:r>
              <a:t>未达标：改样章/插图/尾钩 — 不先扩写案②–⑤</a:t>
            </a:r>
          </a:p>
          <a:p>
            <a:pPr>
              <a:spcAft>
                <a:spcPts val="800"/>
              </a:spcAft>
              <a:defRPr sz="1700"/>
            </a:pPr>
            <a:r>
              <a:t>通过后：Nano Banana 8角色终稿 + 全卷排版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开放门禁 · 尽调一句话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✅ 正典：Vol1 Plan B · 首市场日本 · 名称 LOCK</a:t>
            </a:r>
          </a:p>
          <a:p>
            <a:pPr>
              <a:spcAft>
                <a:spcPts val="800"/>
              </a:spcAft>
              <a:defRPr sz="1700"/>
            </a:pPr>
            <a:r>
              <a:t>🟡 日文：A001 JP_VOICE_v1 · ②–⑤初译待 E04</a:t>
            </a:r>
          </a:p>
          <a:p>
            <a:pPr>
              <a:spcAft>
                <a:spcPts val="800"/>
              </a:spcAft>
              <a:defRPr sz="1700"/>
            </a:pPr>
            <a:r>
              <a:t>🟡 插图：V-S01 可用 · 角色 L0 待画师/Nano 终稿</a:t>
            </a:r>
          </a:p>
          <a:p>
            <a:pPr>
              <a:spcAft>
                <a:spcPts val="800"/>
              </a:spcAft>
              <a:defRPr sz="1700"/>
            </a:pPr>
            <a:r>
              <a:t>⬜ 市场：E20 试读数据 = 0 → 本轮首要风险</a:t>
            </a:r>
          </a:p>
          <a:p>
            <a:pPr>
              <a:spcAft>
                <a:spcPts val="800"/>
              </a:spcAft>
              <a:defRPr sz="1700"/>
            </a:pPr>
            <a:r>
              <a:t>内容脚手架 84 分 · 市场验证 0 分 → 先试读再出版包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0"/>
            <a:ext cx="134416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Next · 试读反馈后</a:t>
            </a:r>
          </a:p>
          <a:p>
            <a:pPr algn="ctr">
              <a:defRPr sz="2200" i="1"/>
            </a:pPr>
            <a:r>
              <a:t>薄样张 ≠ 正式版 05_出版成果</a:t>
            </a:r>
          </a:p>
          <a:p>
            <a:pPr algn="ctr">
              <a:defRPr sz="1800"/>
            </a:pPr>
            <a:r>
              <a:t>全卷5案 · 出版成果 PDF/PPT · 渠道洽谈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635240"/>
            <a:ext cx="1344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薄样张路演 · 16:9 · 20260605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