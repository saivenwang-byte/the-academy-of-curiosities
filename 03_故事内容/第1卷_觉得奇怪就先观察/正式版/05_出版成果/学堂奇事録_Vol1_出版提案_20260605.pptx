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0"/>
            <a:ext cx="134416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学堂奇事録</a:t>
            </a:r>
          </a:p>
          <a:p>
            <a:pPr algn="ctr">
              <a:defRPr sz="2200" i="1"/>
            </a:pPr>
            <a:r>
              <a:t>謎が、解ける日。</a:t>
            </a:r>
          </a:p>
          <a:p>
            <a:pPr algn="ctr">
              <a:defRPr sz="1800"/>
            </a:pPr>
            <a:r>
              <a:t>第1巻 · おかしいと思ったら、まず見てみる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635240"/>
            <a:ext cx="1344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16:9 出版提案 · 20260605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0"/>
            <a:ext cx="134416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出版提案 · 首市场日本</a:t>
            </a:r>
          </a:p>
          <a:p>
            <a:pPr algn="ctr">
              <a:defRPr sz="1800"/>
            </a:pPr>
            <a:r>
              <a:t>7–11歳（主 8–10）· 名古屋 · 校园軽推理 · Plan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635240"/>
            <a:ext cx="1344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16:9 出版提案 · 20260605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IP定位（B1 / E1 / 品牌定稿）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344168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• 日常の「小異常」→ 観察 → 温柔な真相</a:t>
            </a:r>
          </a:p>
          <a:p>
            <a:pPr>
              <a:spcAft>
                <a:spcPts val="600"/>
              </a:spcAft>
              <a:defRPr sz="1700"/>
            </a:pPr>
            <a:r>
              <a:t>• かわいさで入る · 謎で留まる · キャラで戻る · 観察で続く</a:t>
            </a:r>
          </a:p>
          <a:p>
            <a:pPr>
              <a:spcAft>
                <a:spcPts val="600"/>
              </a:spcAft>
              <a:defRPr sz="1700"/>
            </a:pPr>
            <a:r>
              <a:t>• 硬科普/教辅/恐怖/大人破案 ✗</a:t>
            </a:r>
          </a:p>
          <a:p>
            <a:pPr>
              <a:spcAft>
                <a:spcPts val="600"/>
              </a:spcAft>
              <a:defRPr sz="1700"/>
            </a:pPr>
            <a:r>
              <a:t>• 子どもが読みたい · 親が成長を認める · シリーズ化可</a:t>
            </a:r>
          </a:p>
          <a:p>
            <a:pPr>
              <a:spcAft>
                <a:spcPts val="600"/>
              </a:spcAft>
              <a:defRPr sz="1700"/>
            </a:pPr>
            <a:r>
              <a:t>• Vol1：5年2組 陸珣（しゅん）· 観察クラブ入門 · 5事件合订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事件 A001–A005 · Case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653796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A001 ① めくれたポスター · 湿度/気流 ✅</a:t>
            </a:r>
          </a:p>
          <a:p>
            <a:pPr>
              <a:spcAft>
                <a:spcPts val="600"/>
              </a:spcAft>
              <a:defRPr sz="1500"/>
            </a:pPr>
            <a:r>
              <a:t>A003 ③ 空いている欄 · 確認待ち ✅</a:t>
            </a:r>
          </a:p>
          <a:p>
            <a:pPr>
              <a:spcAft>
                <a:spcPts val="600"/>
              </a:spcAft>
              <a:defRPr sz="1500"/>
            </a:pPr>
            <a:r>
              <a:t>A005 ⑤ 消しゴムのカス · 摩擦/入社 🟡</a:t>
            </a:r>
          </a:p>
          <a:p>
            <a:pPr>
              <a:spcAft>
                <a:spcPts val="600"/>
              </a:spcAft>
              <a:defRPr sz="1500"/>
            </a:pPr>
            <a:r>
              <a:t>L3 巻末：壁報第2起 → Vol2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0" y="1051560"/>
            <a:ext cx="653796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A002 ② ズレた泥のあと · 動線/側門 ✅</a:t>
            </a:r>
          </a:p>
          <a:p>
            <a:pPr>
              <a:spcAft>
                <a:spcPts val="600"/>
              </a:spcAft>
              <a:defRPr sz="1500"/>
            </a:pPr>
            <a:r>
              <a:t>A004 ④ チョーク粉の輪 · 静電/掃除 🟡</a:t>
            </a:r>
          </a:p>
          <a:p>
            <a:pPr>
              <a:spcAft>
                <a:spcPts val="600"/>
              </a:spcAft>
              <a:defRPr sz="1500"/>
            </a:pPr>
            <a:r>
              <a:t>L1 尾钩：空欄→投稿→裏の路→中谷半句→瑆誤描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主视觉 · V-S01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475488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側廊 · 手描きポスター</a:t>
            </a:r>
          </a:p>
          <a:p>
            <a:pPr>
              <a:defRPr sz="1600"/>
            </a:pPr>
            <a:r>
              <a:t>• めくれる辺 = 風の側</a:t>
            </a:r>
          </a:p>
          <a:p>
            <a:pPr>
              <a:defRPr sz="1600"/>
            </a:pPr>
            <a:r>
              <a:t>• 桥梁书 · 8–10歳可读线索</a:t>
            </a:r>
          </a:p>
          <a:p>
            <a:pPr>
              <a:defRPr sz="1600"/>
            </a:pPr>
            <a:r>
              <a:t>• V-S02–V05 同系列嵌入</a:t>
            </a:r>
          </a:p>
        </p:txBody>
      </p:sp>
      <p:pic>
        <p:nvPicPr>
          <p:cNvPr id="4" name="Picture 3" descr="V-S01_侧廊海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777240"/>
            <a:ext cx="8412480" cy="5608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344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正典 · 专家门禁（11_检查项 / E04·E07·E20）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653796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正典 · Vol1=Plan B A001–A005 · ✅ LOCK · 非湿椅子 C001</a:t>
            </a:r>
          </a:p>
          <a:p>
            <a:pPr>
              <a:spcAft>
                <a:spcPts val="600"/>
              </a:spcAft>
              <a:defRPr sz="1500"/>
            </a:pPr>
            <a:r>
              <a:t>正典 · 珣=しゅん / 瑆=ひかる · ✅ LOCK · 名称 LOCK 2026-06-05</a:t>
            </a:r>
          </a:p>
          <a:p>
            <a:pPr>
              <a:spcAft>
                <a:spcPts val="600"/>
              </a:spcAft>
              <a:defRPr sz="1500"/>
            </a:pPr>
            <a:r>
              <a:t>C03b · 公平线索 · ✅/🟡 · A001–A003 定稿 · A004–A005 初稿</a:t>
            </a:r>
          </a:p>
          <a:p>
            <a:pPr>
              <a:spcAft>
                <a:spcPts val="600"/>
              </a:spcAft>
              <a:defRPr sz="1500"/>
            </a:pPr>
            <a:r>
              <a:t>C04 · 温柔真相 · ✅ · 无羞辱/无霸凌</a:t>
            </a:r>
          </a:p>
          <a:p>
            <a:pPr>
              <a:spcAft>
                <a:spcPts val="600"/>
              </a:spcAft>
              <a:defRPr sz="1500"/>
            </a:pPr>
            <a:r>
              <a:t>V14 · 陸珣视觉入口 · ✅ · 侧后观察位</a:t>
            </a:r>
          </a:p>
          <a:p>
            <a:pPr>
              <a:spcAft>
                <a:spcPts val="600"/>
              </a:spcAft>
              <a:defRPr sz="1500"/>
            </a:pPr>
            <a:r>
              <a:t>S20 · 红线 · ✅ · 无湿椅子主叙事</a:t>
            </a:r>
          </a:p>
          <a:p>
            <a:pPr>
              <a:spcAft>
                <a:spcPts val="600"/>
              </a:spcAft>
              <a:defRPr sz="1500"/>
            </a:pPr>
            <a:r>
              <a:t>E07 · 田中校园五维 · ⬜ · 待全文督查</a:t>
            </a:r>
          </a:p>
          <a:p>
            <a:pPr>
              <a:spcAft>
                <a:spcPts val="600"/>
              </a:spcAft>
              <a:defRPr sz="1500"/>
            </a:pPr>
            <a:r>
              <a:t>L2 · Scorecard ≥180 · 🟡 · A001 READY_FOR_SAMPLE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0" y="1051560"/>
            <a:ext cx="653796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正典 · 首市场=日本 · ✅ LOCK · 学堂奇事録</a:t>
            </a:r>
          </a:p>
          <a:p>
            <a:pPr>
              <a:spcAft>
                <a:spcPts val="600"/>
              </a:spcAft>
              <a:defRPr sz="1500"/>
            </a:pPr>
            <a:r>
              <a:t>C03 · 5案轻推理结构 · ✅ · L1 尾钩串联</a:t>
            </a:r>
          </a:p>
          <a:p>
            <a:pPr>
              <a:spcAft>
                <a:spcPts val="600"/>
              </a:spcAft>
              <a:defRPr sz="1500"/>
            </a:pPr>
            <a:r>
              <a:t>C03c · 卷级钩子 · ✅ · 壁报待续 → Vol2</a:t>
            </a:r>
          </a:p>
          <a:p>
            <a:pPr>
              <a:spcAft>
                <a:spcPts val="600"/>
              </a:spcAft>
              <a:defRPr sz="1500"/>
            </a:pPr>
            <a:r>
              <a:t>V13 · 桥梁书年龄感 · ✅/🟡 · V-S01 AI · V-S02–05 v0.9</a:t>
            </a:r>
          </a:p>
          <a:p>
            <a:pPr>
              <a:spcAft>
                <a:spcPts val="600"/>
              </a:spcAft>
              <a:defRPr sz="1500"/>
            </a:pPr>
            <a:r>
              <a:t>S18 · 校园怪异上限 · ✅ · 零恐怖</a:t>
            </a:r>
          </a:p>
          <a:p>
            <a:pPr>
              <a:spcAft>
                <a:spcPts val="600"/>
              </a:spcAft>
              <a:defRPr sz="1500"/>
            </a:pPr>
            <a:r>
              <a:t>E04 · 日文文体 · 🟡 · A001 JP_VOICE_v1 · ②–⑤初译</a:t>
            </a:r>
          </a:p>
          <a:p>
            <a:pPr>
              <a:spcAft>
                <a:spcPts val="600"/>
              </a:spcAft>
              <a:defRPr sz="1500"/>
            </a:pPr>
            <a:r>
              <a:t>E20 · 试读反馈 · ⬜ · 本包可发专家/出版社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28800"/>
            <a:ext cx="134416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成果物</a:t>
            </a:r>
          </a:p>
          <a:p>
            <a:pPr algn="ctr">
              <a:defRPr sz="1800"/>
            </a:pPr>
            <a:r>
              <a:t>PDF：学堂奇事録_Vol1_正式出版成果_日本語_20260605.pdf</a:t>
            </a:r>
            <a:br/>
            <a:r>
              <a:t>PPT：学堂奇事録_Vol1_出版提案_20260605.pptx（16:9）</a:t>
            </a:r>
            <a:br/>
            <a:r>
              <a:t>待：E07 田中 · E04 全文推敲 · 画师终稿 V-S02–05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635240"/>
            <a:ext cx="1344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16:9 出版提案 · 20260605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