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0"/>
            <a:ext cx="134416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V0.1-B · Vol1 全卷提案包</a:t>
            </a:r>
          </a:p>
          <a:p>
            <a:pPr algn="ctr">
              <a:defRPr sz="1800"/>
            </a:pPr>
            <a:r>
              <a:t>5案骨架 · 出版社对外 · 探索稿·非印刷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IP定位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34416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• 7–11歳 · 名古屋 · 校园軽推理</a:t>
            </a:r>
          </a:p>
          <a:p>
            <a:pPr>
              <a:spcAft>
                <a:spcPts val="600"/>
              </a:spcAft>
              <a:defRPr sz="1700"/>
            </a:pPr>
            <a:r>
              <a:t>• Gate A：NOT 湿椅子 · Plan B</a:t>
            </a:r>
          </a:p>
          <a:p>
            <a:pPr>
              <a:spcAft>
                <a:spcPts val="600"/>
              </a:spcAft>
              <a:defRPr sz="1700"/>
            </a:pPr>
            <a:r>
              <a:t>• かわいさで入る · 謎で留まる · 観察で続く</a:t>
            </a:r>
          </a:p>
          <a:p>
            <a:pPr>
              <a:spcAft>
                <a:spcPts val="600"/>
              </a:spcAft>
              <a:defRPr sz="1700"/>
            </a:pPr>
            <a:r>
              <a:t>• PDF：学堂奇事録_Vol1_V0.1-B_全卷提案包_日本語_20260606.pdf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事件 A001–A005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653796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A001 ① めくれたポスター · 湿度·気流·貼り方 ✅</a:t>
            </a:r>
          </a:p>
          <a:p>
            <a:pPr>
              <a:spcAft>
                <a:spcPts val="600"/>
              </a:spcAft>
              <a:defRPr sz="1500"/>
            </a:pPr>
            <a:r>
              <a:t>A003 ③ 空いている欄 · 確認待ち·掲示規則 ✅</a:t>
            </a:r>
          </a:p>
          <a:p>
            <a:pPr>
              <a:spcAft>
                <a:spcPts val="600"/>
              </a:spcAft>
              <a:defRPr sz="1500"/>
            </a:pPr>
            <a:r>
              <a:t>A005 ⑤ 消しゴムのカス · 摩擦·入社 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0" y="1051560"/>
            <a:ext cx="653796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A002 ② ズレた泥のあと · 動線·側門の土 ✅</a:t>
            </a:r>
          </a:p>
          <a:p>
            <a:pPr>
              <a:spcAft>
                <a:spcPts val="600"/>
              </a:spcAft>
              <a:defRPr sz="1500"/>
            </a:pPr>
            <a:r>
              <a:t>A004 ④ チョーク粉の輪 · 静電·掃除順 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成果物構成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34416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序 + 5事件全文（日本語）</a:t>
            </a:r>
          </a:p>
          <a:p>
            <a:pPr>
              <a:spcAft>
                <a:spcPts val="600"/>
              </a:spcAft>
              <a:defRPr sz="1700"/>
            </a:pPr>
            <a:r>
              <a:t>陸瑆笔记 Vol1</a:t>
            </a:r>
          </a:p>
          <a:p>
            <a:pPr>
              <a:spcAft>
                <a:spcPts val="600"/>
              </a:spcAft>
              <a:defRPr sz="1700"/>
            </a:pPr>
            <a:r>
              <a:t>A001 depth_anchor · 他案占位挿画</a:t>
            </a:r>
          </a:p>
          <a:p>
            <a:pPr>
              <a:spcAft>
                <a:spcPts val="600"/>
              </a:spcAft>
              <a:defRPr sz="1700"/>
            </a:pPr>
            <a:r>
              <a:t>四栏审核 × 5案</a:t>
            </a:r>
          </a:p>
          <a:p>
            <a:pPr>
              <a:spcAft>
                <a:spcPts val="600"/>
              </a:spcAft>
              <a:defRPr sz="1700"/>
            </a:pPr>
            <a:r>
              <a:t>门禁对照表 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主视觉 · A001 depth_anchor</a:t>
            </a:r>
          </a:p>
        </p:txBody>
      </p:sp>
      <p:pic>
        <p:nvPicPr>
          <p:cNvPr id="3" name="Picture 2" descr="V-S01-A1_侧廊发现_v0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640080"/>
            <a:ext cx="8686800" cy="579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